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26" userDrawn="1">
          <p15:clr>
            <a:srgbClr val="A4A3A4"/>
          </p15:clr>
        </p15:guide>
        <p15:guide id="3" orient="horz" pos="390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76" d="100"/>
          <a:sy n="76" d="100"/>
        </p:scale>
        <p:origin x="456" y="84"/>
      </p:cViewPr>
      <p:guideLst>
        <p:guide orient="horz" pos="1968"/>
        <p:guide pos="426"/>
        <p:guide orient="horz" pos="390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8795886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427012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741349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t>9/8/2026</a:t>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t>‹#›</a:t>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t>9/8/2026</a:t>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t>‹#›</a:t>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675640" y="3588385"/>
            <a:ext cx="10186035" cy="861695"/>
          </a:xfrm>
        </p:spPr>
        <p:txBody>
          <a:bodyPr vert="horz" lIns="91440" tIns="45720" rIns="91440" bIns="45720" rtlCol="0" anchor="t">
            <a:normAutofit/>
          </a:bodyPr>
          <a:lstStyle/>
          <a:p>
            <a:pPr algn="l"/>
            <a:r>
              <a:rPr lang="en-US" b="0" dirty="0">
                <a:solidFill>
                  <a:schemeClr val="tx1"/>
                </a:solidFill>
              </a:rPr>
              <a:t>Student Name</a:t>
            </a:r>
            <a:r>
              <a:rPr lang="en-IN" altLang="en-US" b="0" dirty="0">
                <a:solidFill>
                  <a:schemeClr val="tx1"/>
                </a:solidFill>
              </a:rPr>
              <a:t>-</a:t>
            </a:r>
            <a:r>
              <a:rPr lang="en-US" altLang="en-GB" b="0" dirty="0">
                <a:solidFill>
                  <a:schemeClr val="tx1"/>
                </a:solidFill>
              </a:rPr>
              <a:t>Tanvi Shashikant Magdum</a:t>
            </a:r>
            <a:r>
              <a:rPr lang="en-US" b="0" dirty="0">
                <a:solidFill>
                  <a:schemeClr val="tx1"/>
                </a:solidFill>
              </a:rPr>
              <a:t> </a:t>
            </a:r>
            <a:endParaRPr lang="en-IN" b="0" dirty="0">
              <a:solidFill>
                <a:schemeClr val="tx1"/>
              </a:solidFill>
            </a:endParaRPr>
          </a:p>
          <a:p>
            <a:pPr algn="l"/>
            <a:r>
              <a:rPr lang="en-US" b="0" dirty="0">
                <a:solidFill>
                  <a:schemeClr val="tx1"/>
                </a:solidFill>
              </a:rPr>
              <a:t>College Name- </a:t>
            </a:r>
            <a:r>
              <a:rPr lang="en-US" altLang="en-GB" b="0" dirty="0">
                <a:solidFill>
                  <a:schemeClr val="tx1"/>
                </a:solidFill>
              </a:rPr>
              <a:t>Sharad institute of technology college of engineering yadrav</a:t>
            </a:r>
          </a:p>
        </p:txBody>
      </p:sp>
      <p:sp>
        <p:nvSpPr>
          <p:cNvPr id="4" name="Title 3"/>
          <p:cNvSpPr>
            <a:spLocks noGrp="1"/>
          </p:cNvSpPr>
          <p:nvPr>
            <p:ph type="title"/>
          </p:nvPr>
        </p:nvSpPr>
        <p:spPr>
          <a:xfrm>
            <a:off x="678180" y="2844800"/>
            <a:ext cx="10404475" cy="743585"/>
          </a:xfrm>
        </p:spPr>
        <p:txBody>
          <a:bodyPr>
            <a:normAutofit fontScale="90000"/>
          </a:bodyPr>
          <a:lstStyle/>
          <a:p>
            <a:r>
              <a:rPr lang="en-GB" sz="3200" dirty="0"/>
              <a:t>Project Title -</a:t>
            </a:r>
            <a:r>
              <a:rPr lang="en-US" altLang="en-GB" sz="3200" dirty="0"/>
              <a:t>Seasonal Agriculture Performance Analysis </a:t>
            </a:r>
            <a:br>
              <a:rPr lang="en-US" altLang="en-GB" sz="3200" dirty="0"/>
            </a:br>
            <a:endParaRPr lang="en-US" altLang="en-GB" sz="320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3" name="TextBox 2"/>
          <p:cNvSpPr txBox="1"/>
          <p:nvPr/>
        </p:nvSpPr>
        <p:spPr>
          <a:xfrm>
            <a:off x="675640" y="4576445"/>
            <a:ext cx="7032625" cy="368300"/>
          </a:xfrm>
          <a:prstGeom prst="rect">
            <a:avLst/>
          </a:prstGeom>
          <a:noFill/>
        </p:spPr>
        <p:txBody>
          <a:bodyPr wrap="square" rtlCol="0">
            <a:spAutoFit/>
          </a:bodyPr>
          <a:lstStyle/>
          <a:p>
            <a:r>
              <a:rPr lang="en-US" b="1" dirty="0"/>
              <a:t>AICTE STU ID : </a:t>
            </a:r>
            <a:r>
              <a:rPr lang="en-US" altLang="en-GB" b="1" dirty="0"/>
              <a:t>STU689366b8157891754490552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2008906"/>
            <a:ext cx="6431280" cy="3607987"/>
          </a:xfrm>
        </p:spPr>
        <p:txBody>
          <a:bodyPr vert="horz" lIns="91440" tIns="45720" rIns="91440" bIns="45720" rtlCol="0" anchor="t">
            <a:noAutofit/>
          </a:bodyPr>
          <a:lstStyle/>
          <a:p>
            <a:pPr>
              <a:lnSpc>
                <a:spcPct val="100000"/>
              </a:lnSpc>
            </a:pPr>
            <a:r>
              <a:rPr lang="en-US" altLang="en-GB" sz="1800" dirty="0"/>
              <a:t>Agricultural activities are influenced by seasonal variations in environmental conditions,farming practices, resource availability and market conditions. As a result, agricultural</a:t>
            </a:r>
            <a:r>
              <a:rPr lang="en-IN" altLang="en-US" sz="1800" dirty="0"/>
              <a:t> </a:t>
            </a:r>
            <a:r>
              <a:rPr lang="en-US" altLang="en-GB" sz="1800" dirty="0"/>
              <a:t>performance may differ from one season to another.</a:t>
            </a:r>
          </a:p>
          <a:p>
            <a:pPr>
              <a:lnSpc>
                <a:spcPct val="100000"/>
              </a:lnSpc>
            </a:pPr>
            <a:r>
              <a:rPr lang="en-US" altLang="en-GB" sz="1800" dirty="0"/>
              <a:t>However, raw agricultural data does not clearly explain how agricultural performance changes</a:t>
            </a:r>
            <a:r>
              <a:rPr lang="en-IN" altLang="en-US" sz="1800" dirty="0"/>
              <a:t> </a:t>
            </a:r>
            <a:r>
              <a:rPr lang="en-US" altLang="en-GB" sz="1800" dirty="0"/>
              <a:t>across seasons or what patterns can be observed in different seasonal conditions.</a:t>
            </a:r>
          </a:p>
          <a:p>
            <a:pPr>
              <a:lnSpc>
                <a:spcPct val="100000"/>
              </a:lnSpc>
            </a:pPr>
            <a:r>
              <a:rPr lang="en-US" altLang="en-GB" sz="1800" dirty="0"/>
              <a:t>The problem is to analyze the given agricultural dataset and investigate seasonal differences</a:t>
            </a:r>
            <a:r>
              <a:rPr lang="en-IN" altLang="en-US" sz="1800" dirty="0"/>
              <a:t> </a:t>
            </a:r>
            <a:r>
              <a:rPr lang="en-US" altLang="en-GB" sz="1800" dirty="0"/>
              <a:t>in agricultural performance by identifying meaningful patterns, trends, relationships and</a:t>
            </a:r>
            <a:r>
              <a:rPr lang="en-IN" altLang="en-US" sz="1800" dirty="0"/>
              <a:t> </a:t>
            </a:r>
            <a:r>
              <a:rPr lang="en-US" altLang="en-GB" sz="1800" dirty="0"/>
              <a:t>variations within the available data. </a:t>
            </a:r>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2"/>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3"/>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400" y="805180"/>
            <a:ext cx="8618220" cy="6052820"/>
          </a:xfrm>
        </p:spPr>
        <p:txBody>
          <a:bodyPr>
            <a:normAutofit/>
          </a:bodyPr>
          <a:lstStyle/>
          <a:p>
            <a:r>
              <a:rPr lang="en-GB" dirty="0"/>
              <a:t>Project Description</a:t>
            </a:r>
            <a:r>
              <a:rPr lang="en-GB" sz="1775" dirty="0"/>
              <a:t/>
            </a:r>
            <a:br>
              <a:rPr lang="en-GB" sz="1775" dirty="0"/>
            </a:br>
            <a:r>
              <a:rPr lang="en-US" altLang="en-GB" sz="2000" b="0" dirty="0"/>
              <a:t>This project analyzes seasonal agricultural performance using a dataset covering farming practices, environmental conditions, crop production, resource usage, and economic outcomes across different seasons and regions. The goal is to move beyond raw data and uncover meaningful seasonal patterns, trends, and relationships that explain how agricultural performance shifts from one season to another.</a:t>
            </a:r>
            <a:br>
              <a:rPr lang="en-US" altLang="en-GB" sz="2000" b="0" dirty="0"/>
            </a:br>
            <a:r>
              <a:rPr lang="en-US" altLang="en-GB" sz="2000" b="0" dirty="0"/>
              <a:t/>
            </a:r>
            <a:br>
              <a:rPr lang="en-US" altLang="en-GB" sz="2000" b="0" dirty="0"/>
            </a:br>
            <a:r>
              <a:rPr lang="en-US" altLang="en-GB" sz="2000" b="0" dirty="0"/>
              <a:t>The analysis involves cleaning and preparing the dataset, exploring seasonal variations through statistical and visualization techniques, comparing performance across seasons and regions, and identifying significant differences or unusual patterns. The complete workflow — from data exploration to final insights — is documented in a Jupyter Notebook, concluding with evidence-based recommendations to support better seasonal agricultural planning.</a:t>
            </a:r>
            <a:r>
              <a:rPr lang="en-GB" dirty="0"/>
              <a:t/>
            </a:r>
            <a:br>
              <a:rPr lang="en-GB" dirty="0"/>
            </a:br>
            <a:endParaRPr lang="en-IN" dirty="0"/>
          </a:p>
        </p:txBody>
      </p:sp>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3"/>
          <a:stretch>
            <a:fillRect/>
          </a:stretch>
        </p:blipFill>
        <p:spPr>
          <a:xfrm>
            <a:off x="467359" y="6410461"/>
            <a:ext cx="3706253" cy="2960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721359" y="1679575"/>
            <a:ext cx="7904481" cy="3990023"/>
          </a:xfrm>
        </p:spPr>
        <p:txBody>
          <a:bodyPr>
            <a:normAutofit fontScale="57500" lnSpcReduction="10000"/>
          </a:bodyPr>
          <a:lstStyle/>
          <a:p>
            <a:pPr algn="just">
              <a:lnSpc>
                <a:spcPct val="150000"/>
              </a:lnSpc>
            </a:pPr>
            <a:r>
              <a:rPr lang="en-US" altLang="en-GB" sz="3600" b="1" dirty="0"/>
              <a:t>Farmers and agricultural producers</a:t>
            </a:r>
            <a:r>
              <a:rPr lang="en-US" altLang="en-GB" sz="3600" dirty="0"/>
              <a:t> — for planning crops by season</a:t>
            </a:r>
          </a:p>
          <a:p>
            <a:pPr algn="just">
              <a:lnSpc>
                <a:spcPct val="150000"/>
              </a:lnSpc>
            </a:pPr>
            <a:r>
              <a:rPr lang="en-US" altLang="en-GB" sz="3600" b="1" dirty="0"/>
              <a:t>Agricultural policymakers and government bodies</a:t>
            </a:r>
            <a:r>
              <a:rPr lang="en-US" altLang="en-GB" sz="3600" dirty="0"/>
              <a:t> — for evidence-based planning</a:t>
            </a:r>
          </a:p>
          <a:p>
            <a:pPr algn="just">
              <a:lnSpc>
                <a:spcPct val="150000"/>
              </a:lnSpc>
            </a:pPr>
            <a:r>
              <a:rPr lang="en-US" altLang="en-GB" sz="3600" b="1" dirty="0"/>
              <a:t>Agribusinesses and supply chain planners</a:t>
            </a:r>
            <a:r>
              <a:rPr lang="en-US" altLang="en-GB" sz="3600" dirty="0"/>
              <a:t> — for resource and demand forecasting</a:t>
            </a:r>
          </a:p>
          <a:p>
            <a:pPr algn="just">
              <a:lnSpc>
                <a:spcPct val="150000"/>
              </a:lnSpc>
            </a:pPr>
            <a:r>
              <a:rPr lang="en-US" altLang="en-GB" sz="3600" b="1" dirty="0"/>
              <a:t>Agricultural researchers and data analysts</a:t>
            </a:r>
            <a:r>
              <a:rPr lang="en-US" altLang="en-GB" sz="3600" dirty="0"/>
              <a:t> — for further study</a:t>
            </a:r>
          </a:p>
          <a:p>
            <a:pPr algn="just">
              <a:lnSpc>
                <a:spcPct val="150000"/>
              </a:lnSpc>
            </a:pPr>
            <a:r>
              <a:rPr lang="en-US" altLang="en-GB" sz="3600" b="1" dirty="0"/>
              <a:t>Financial/insurance institutions </a:t>
            </a:r>
            <a:r>
              <a:rPr lang="en-US" altLang="en-GB" sz="3600" dirty="0"/>
              <a:t>— for risk assessment tied to seasonal performance</a:t>
            </a:r>
          </a:p>
        </p:txBody>
      </p:sp>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2"/>
          <a:stretch>
            <a:fillRect/>
          </a:stretch>
        </p:blipFill>
        <p:spPr>
          <a:xfrm>
            <a:off x="721359" y="6176804"/>
            <a:ext cx="2181225" cy="485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67359" y="6410461"/>
            <a:ext cx="3706253" cy="296092"/>
          </a:xfrm>
          <a:prstGeom prst="rect">
            <a:avLst/>
          </a:prstGeom>
        </p:spPr>
      </p:pic>
      <p:pic>
        <p:nvPicPr>
          <p:cNvPr id="2" name="Picture 1"/>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390618" y="1432560"/>
            <a:ext cx="9027702" cy="5243448"/>
          </a:xfrm>
        </p:spPr>
        <p:txBody>
          <a:bodyPr/>
          <a:lstStyle/>
          <a:p>
            <a:pPr lvl="1">
              <a:lnSpc>
                <a:spcPct val="150000"/>
              </a:lnSpc>
            </a:pPr>
            <a:r>
              <a:rPr lang="en-US" altLang="en-GB" b="1" dirty="0"/>
              <a:t>Python (Pandas, NumPy)</a:t>
            </a:r>
            <a:r>
              <a:rPr lang="en-US" altLang="en-GB" dirty="0"/>
              <a:t> — data cleaning and analysis</a:t>
            </a:r>
          </a:p>
          <a:p>
            <a:pPr lvl="1">
              <a:lnSpc>
                <a:spcPct val="150000"/>
              </a:lnSpc>
            </a:pPr>
            <a:r>
              <a:rPr lang="en-US" altLang="en-GB" b="1" dirty="0"/>
              <a:t>Matplotlib / Seaborn</a:t>
            </a:r>
            <a:r>
              <a:rPr lang="en-US" altLang="en-GB" dirty="0"/>
              <a:t> — data visualization</a:t>
            </a:r>
          </a:p>
          <a:p>
            <a:pPr lvl="1">
              <a:lnSpc>
                <a:spcPct val="150000"/>
              </a:lnSpc>
            </a:pPr>
            <a:r>
              <a:rPr lang="en-US" altLang="en-GB" b="1" dirty="0"/>
              <a:t>Jupyter Notebook</a:t>
            </a:r>
            <a:r>
              <a:rPr lang="en-US" altLang="en-GB" dirty="0"/>
              <a:t> — documentation and analysis environment</a:t>
            </a:r>
          </a:p>
          <a:p>
            <a:pPr lvl="1">
              <a:lnSpc>
                <a:spcPct val="150000"/>
              </a:lnSpc>
            </a:pPr>
            <a:r>
              <a:rPr lang="en-US" altLang="en-GB" b="1" dirty="0"/>
              <a:t>Statistical techniques</a:t>
            </a:r>
            <a:r>
              <a:rPr lang="en-US" altLang="en-GB" dirty="0"/>
              <a:t> — correlation, comparison across groups, trend analysis</a:t>
            </a:r>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5905751"/>
            <a:ext cx="6840394" cy="695960"/>
          </a:xfrm>
          <a:prstGeom prst="rect">
            <a:avLst/>
          </a:prstGeom>
        </p:spPr>
      </p:pic>
      <p:sp>
        <p:nvSpPr>
          <p:cNvPr id="4" name="Title 3"/>
          <p:cNvSpPr>
            <a:spLocks noGrp="1"/>
          </p:cNvSpPr>
          <p:nvPr>
            <p:ph type="title"/>
          </p:nvPr>
        </p:nvSpPr>
        <p:spPr>
          <a:xfrm>
            <a:off x="675957" y="370589"/>
            <a:ext cx="2981643" cy="830997"/>
          </a:xfrm>
        </p:spPr>
        <p:txBody>
          <a:bodyPr>
            <a:normAutofit fontScale="90000"/>
          </a:bodyPr>
          <a:lstStyle/>
          <a:p>
            <a:r>
              <a:rPr lang="en-GB" dirty="0"/>
              <a:t>RESULTS</a:t>
            </a:r>
            <a:br>
              <a:rPr lang="en-GB" dirty="0"/>
            </a:br>
            <a:r>
              <a:rPr lang="en-GB" dirty="0"/>
              <a:t/>
            </a:r>
            <a:br>
              <a:rPr lang="en-GB" dirty="0"/>
            </a:br>
            <a:r>
              <a:rPr lang="en-GB" dirty="0"/>
              <a:t/>
            </a:r>
            <a:br>
              <a:rPr lang="en-GB" dirty="0"/>
            </a:br>
            <a:r>
              <a:rPr lang="en-GB" dirty="0"/>
              <a:t/>
            </a:r>
            <a:br>
              <a:rPr lang="en-GB" dirty="0"/>
            </a:br>
            <a:r>
              <a:rPr lang="en-GB" dirty="0"/>
              <a:t>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493886" y="1099820"/>
            <a:ext cx="7022465" cy="4424680"/>
          </a:xfrm>
          <a:prstGeom prst="rect">
            <a:avLst/>
          </a:prstGeom>
        </p:spPr>
      </p:pic>
      <p:sp>
        <p:nvSpPr>
          <p:cNvPr id="2" name="Rectangle 1"/>
          <p:cNvSpPr/>
          <p:nvPr/>
        </p:nvSpPr>
        <p:spPr>
          <a:xfrm>
            <a:off x="675957" y="5598285"/>
            <a:ext cx="6096000" cy="1200329"/>
          </a:xfrm>
          <a:prstGeom prst="rect">
            <a:avLst/>
          </a:prstGeom>
        </p:spPr>
        <p:txBody>
          <a:bodyPr>
            <a:spAutoFit/>
          </a:bodyPr>
          <a:lstStyle/>
          <a:p>
            <a:pPr algn="just"/>
            <a:r>
              <a:rPr lang="en-US" dirty="0"/>
              <a:t>The bar plot shows that Zaid season has the highest average water usage, while Rabi season has the lowest.</a:t>
            </a:r>
            <a:br>
              <a:rPr lang="en-US" dirty="0"/>
            </a:br>
            <a:r>
              <a:rPr lang="en-US" dirty="0"/>
              <a:t>Overall, water consumption varies across seasons, indicating seasonal differences in water requirements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stretch>
            <a:fillRect/>
          </a:stretch>
        </p:blipFill>
        <p:spPr>
          <a:xfrm>
            <a:off x="159385" y="1275080"/>
            <a:ext cx="9276715" cy="3995420"/>
          </a:xfrm>
          <a:prstGeom prst="rect">
            <a:avLst/>
          </a:prstGeom>
        </p:spPr>
      </p:pic>
      <p:sp>
        <p:nvSpPr>
          <p:cNvPr id="3" name="Rectangle 2"/>
          <p:cNvSpPr/>
          <p:nvPr/>
        </p:nvSpPr>
        <p:spPr>
          <a:xfrm>
            <a:off x="807164" y="5398882"/>
            <a:ext cx="6228636" cy="1200329"/>
          </a:xfrm>
          <a:prstGeom prst="rect">
            <a:avLst/>
          </a:prstGeom>
        </p:spPr>
        <p:txBody>
          <a:bodyPr wrap="square">
            <a:spAutoFit/>
          </a:bodyPr>
          <a:lstStyle/>
          <a:p>
            <a:pPr algn="just"/>
            <a:r>
              <a:rPr lang="en-US" dirty="0"/>
              <a:t>The </a:t>
            </a:r>
            <a:r>
              <a:rPr lang="en-US" dirty="0" err="1"/>
              <a:t>heatmaps</a:t>
            </a:r>
            <a:r>
              <a:rPr lang="en-US" dirty="0"/>
              <a:t> show that </a:t>
            </a:r>
            <a:r>
              <a:rPr lang="en-US" b="1" dirty="0"/>
              <a:t>Sugarcane has the highest average yield and profit across all seasons</a:t>
            </a:r>
            <a:r>
              <a:rPr lang="en-US" dirty="0"/>
              <a:t>, while crops like </a:t>
            </a:r>
            <a:r>
              <a:rPr lang="en-US" b="1" dirty="0"/>
              <a:t>Maize and Wheat show comparatively </a:t>
            </a:r>
            <a:r>
              <a:rPr lang="en-US" b="1" dirty="0" smtClean="0"/>
              <a:t>lower profits</a:t>
            </a:r>
            <a:r>
              <a:rPr lang="en-US" dirty="0"/>
              <a:t>.</a:t>
            </a:r>
            <a:br>
              <a:rPr lang="en-US" dirty="0"/>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 name="Picture 1"/>
          <p:cNvPicPr>
            <a:picLocks noChangeAspect="1"/>
          </p:cNvPicPr>
          <p:nvPr/>
        </p:nvPicPr>
        <p:blipFill>
          <a:blip r:embed="rId3"/>
          <a:stretch>
            <a:fillRect/>
          </a:stretch>
        </p:blipFill>
        <p:spPr>
          <a:xfrm>
            <a:off x="554990" y="1275371"/>
            <a:ext cx="9828530" cy="3827145"/>
          </a:xfrm>
          <a:prstGeom prst="rect">
            <a:avLst/>
          </a:prstGeom>
        </p:spPr>
      </p:pic>
      <p:sp>
        <p:nvSpPr>
          <p:cNvPr id="3" name="Rectangle 2"/>
          <p:cNvSpPr/>
          <p:nvPr/>
        </p:nvSpPr>
        <p:spPr>
          <a:xfrm>
            <a:off x="807164" y="5368111"/>
            <a:ext cx="8120936" cy="1200329"/>
          </a:xfrm>
          <a:prstGeom prst="rect">
            <a:avLst/>
          </a:prstGeom>
        </p:spPr>
        <p:txBody>
          <a:bodyPr wrap="square">
            <a:spAutoFit/>
          </a:bodyPr>
          <a:lstStyle/>
          <a:p>
            <a:pPr algn="just"/>
            <a:r>
              <a:rPr lang="en-US" dirty="0"/>
              <a:t>The results show that </a:t>
            </a:r>
            <a:r>
              <a:rPr lang="en-US" b="1" dirty="0" err="1"/>
              <a:t>Rainfed</a:t>
            </a:r>
            <a:r>
              <a:rPr lang="en-US" b="1" dirty="0"/>
              <a:t> irrigation has the highest water efficiency</a:t>
            </a:r>
            <a:r>
              <a:rPr lang="en-US" dirty="0"/>
              <a:t>, while </a:t>
            </a:r>
            <a:r>
              <a:rPr lang="en-US" b="1" dirty="0"/>
              <a:t>Drip irrigation provides the highest average profit</a:t>
            </a:r>
            <a:r>
              <a:rPr lang="en-US" dirty="0"/>
              <a:t>.</a:t>
            </a:r>
            <a:br>
              <a:rPr lang="en-US" dirty="0"/>
            </a:br>
            <a:r>
              <a:rPr lang="en-US" dirty="0"/>
              <a:t>Overall, </a:t>
            </a:r>
            <a:r>
              <a:rPr lang="en-US" b="1" dirty="0"/>
              <a:t>Drip irrigation offers the best profitability</a:t>
            </a:r>
            <a:r>
              <a:rPr lang="en-US" dirty="0"/>
              <a:t>, whereas </a:t>
            </a:r>
            <a:r>
              <a:rPr lang="en-US" dirty="0" err="1"/>
              <a:t>Rainfed</a:t>
            </a:r>
            <a:r>
              <a:rPr lang="en-US" dirty="0"/>
              <a:t> irrigation is more water-efficient.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2" name="Picture 1"/>
          <p:cNvPicPr>
            <a:picLocks noChangeAspect="1"/>
          </p:cNvPicPr>
          <p:nvPr/>
        </p:nvPicPr>
        <p:blipFill>
          <a:blip r:embed="rId3"/>
          <a:stretch>
            <a:fillRect/>
          </a:stretch>
        </p:blipFill>
        <p:spPr>
          <a:xfrm>
            <a:off x="272484" y="1275371"/>
            <a:ext cx="10433685" cy="3917315"/>
          </a:xfrm>
          <a:prstGeom prst="rect">
            <a:avLst/>
          </a:prstGeom>
        </p:spPr>
      </p:pic>
      <p:sp>
        <p:nvSpPr>
          <p:cNvPr id="3" name="Rectangle 2"/>
          <p:cNvSpPr/>
          <p:nvPr/>
        </p:nvSpPr>
        <p:spPr>
          <a:xfrm>
            <a:off x="807164" y="5432828"/>
            <a:ext cx="7645400" cy="1200329"/>
          </a:xfrm>
          <a:prstGeom prst="rect">
            <a:avLst/>
          </a:prstGeom>
        </p:spPr>
        <p:txBody>
          <a:bodyPr wrap="square">
            <a:spAutoFit/>
          </a:bodyPr>
          <a:lstStyle/>
          <a:p>
            <a:pPr algn="just"/>
            <a:r>
              <a:rPr lang="en-US" dirty="0"/>
              <a:t>The results show that </a:t>
            </a:r>
            <a:r>
              <a:rPr lang="en-US" b="1" dirty="0"/>
              <a:t>Punjab has the highest average yield and profit</a:t>
            </a:r>
            <a:r>
              <a:rPr lang="en-US" dirty="0"/>
              <a:t>, while </a:t>
            </a:r>
            <a:r>
              <a:rPr lang="en-US" b="1" dirty="0"/>
              <a:t>Andhra Pradesh has the lowest</a:t>
            </a:r>
            <a:r>
              <a:rPr lang="en-US" dirty="0"/>
              <a:t> among the states shown.</a:t>
            </a:r>
            <a:br>
              <a:rPr lang="en-US" dirty="0"/>
            </a:br>
            <a:r>
              <a:rPr lang="en-US" dirty="0"/>
              <a:t>Overall, </a:t>
            </a:r>
            <a:r>
              <a:rPr lang="en-US" b="1" dirty="0"/>
              <a:t>Punjab performs best in both crop productivity and profitability</a:t>
            </a:r>
            <a:r>
              <a:rPr lang="en-US" dirty="0"/>
              <a:t>, indicating strong agricultural performance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3256359" y="1463443"/>
            <a:ext cx="4275138" cy="477520"/>
          </a:xfrm>
        </p:spPr>
        <p:txBody>
          <a:bodyPr/>
          <a:lstStyle/>
          <a:p>
            <a:pPr marL="0" indent="0">
              <a:buNone/>
            </a:pPr>
            <a:endParaRPr lang="en-IN" dirty="0"/>
          </a:p>
        </p:txBody>
      </p:sp>
      <p:pic>
        <p:nvPicPr>
          <p:cNvPr id="2" name="Picture 1"/>
          <p:cNvPicPr>
            <a:picLocks noChangeAspect="1"/>
          </p:cNvPicPr>
          <p:nvPr/>
        </p:nvPicPr>
        <p:blipFill>
          <a:blip r:embed="rId3"/>
          <a:stretch>
            <a:fillRect/>
          </a:stretch>
        </p:blipFill>
        <p:spPr>
          <a:xfrm>
            <a:off x="864274" y="1081405"/>
            <a:ext cx="7860626" cy="3998595"/>
          </a:xfrm>
          <a:prstGeom prst="rect">
            <a:avLst/>
          </a:prstGeom>
        </p:spPr>
      </p:pic>
      <p:sp>
        <p:nvSpPr>
          <p:cNvPr id="3" name="Rectangle 2"/>
          <p:cNvSpPr/>
          <p:nvPr/>
        </p:nvSpPr>
        <p:spPr>
          <a:xfrm>
            <a:off x="675957" y="5153785"/>
            <a:ext cx="8607743" cy="2031325"/>
          </a:xfrm>
          <a:prstGeom prst="rect">
            <a:avLst/>
          </a:prstGeom>
        </p:spPr>
        <p:txBody>
          <a:bodyPr wrap="square">
            <a:spAutoFit/>
          </a:bodyPr>
          <a:lstStyle/>
          <a:p>
            <a:pPr algn="just"/>
            <a:r>
              <a:rPr lang="en-US" dirty="0"/>
              <a:t>The correlation </a:t>
            </a:r>
            <a:r>
              <a:rPr lang="en-US" dirty="0" err="1"/>
              <a:t>heatmap</a:t>
            </a:r>
            <a:r>
              <a:rPr lang="en-US" dirty="0"/>
              <a:t> shows that </a:t>
            </a:r>
            <a:r>
              <a:rPr lang="en-US" b="1" dirty="0"/>
              <a:t>yield, production, revenue, and profit have strong positive relationships</a:t>
            </a:r>
            <a:r>
              <a:rPr lang="en-US" dirty="0"/>
              <a:t>, indicating that higher crop yield generally leads to higher production and profitability.</a:t>
            </a:r>
            <a:br>
              <a:rPr lang="en-US" dirty="0"/>
            </a:br>
            <a:r>
              <a:rPr lang="en-US" dirty="0"/>
              <a:t>It also highlights </a:t>
            </a:r>
            <a:r>
              <a:rPr lang="en-US" b="1" dirty="0"/>
              <a:t>negative correlations between some cost-related and productivity variables</a:t>
            </a:r>
            <a:r>
              <a:rPr lang="en-US" dirty="0"/>
              <a:t>, helping identify factors that influence overall agricultural performance.</a:t>
            </a:r>
          </a:p>
          <a:p>
            <a:pPr algn="just"/>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640" y="370840"/>
            <a:ext cx="9954260" cy="6401435"/>
          </a:xfrm>
        </p:spPr>
        <p:txBody>
          <a:bodyPr>
            <a:normAutofit/>
          </a:bodyPr>
          <a:lstStyle/>
          <a:p>
            <a:r>
              <a:rPr lang="en-IN" sz="4000" dirty="0"/>
              <a:t>Future scope</a:t>
            </a:r>
            <a:br>
              <a:rPr lang="en-IN" sz="4000" dirty="0"/>
            </a:br>
            <a:r>
              <a:rPr lang="en-IN" sz="2220" dirty="0"/>
              <a:t/>
            </a:r>
            <a:br>
              <a:rPr lang="en-IN" sz="2220" dirty="0"/>
            </a:br>
            <a:r>
              <a:rPr lang="en-US" altLang="en-GB" sz="2000" b="0" dirty="0"/>
              <a:t>Incorporate multi-year data to verify whether the Kharif yield advantage and irrigation-method effects hold consistently across years, rather than in a single dataset snapshot.</a:t>
            </a:r>
            <a:br>
              <a:rPr lang="en-US" altLang="en-GB" sz="2000" b="0" dirty="0"/>
            </a:br>
            <a:r>
              <a:rPr lang="en-US" altLang="en-GB" sz="2000" b="0" dirty="0"/>
              <a:t>Conduct a deeper cost-and-pricing analysis for currently loss-making crops (Wheat, Rice, Maize, Pulses) to identify specific cost drivers behind negative profit margins.</a:t>
            </a:r>
            <a:br>
              <a:rPr lang="en-US" altLang="en-GB" sz="2000" b="0" dirty="0"/>
            </a:br>
            <a:r>
              <a:rPr lang="en-US" altLang="en-GB" sz="2000" b="0" dirty="0"/>
              <a:t>Study non-linear relationships between soil pH, seed quality, and yield, since simple correlation showed no strong linear link — threshold or interaction effects may still exist.</a:t>
            </a:r>
            <a:br>
              <a:rPr lang="en-US" altLang="en-GB" sz="2000" b="0" dirty="0"/>
            </a:br>
            <a:r>
              <a:rPr lang="en-US" altLang="en-GB" sz="2000" b="0" dirty="0"/>
              <a:t>Extend the analysis to district-level granularity to uncover more localized patterns currently masked by state-level aggregation.</a:t>
            </a:r>
            <a:br>
              <a:rPr lang="en-US" altLang="en-GB" sz="2000" b="0" dirty="0"/>
            </a:br>
            <a:r>
              <a:rPr lang="en-US" altLang="en-GB" sz="2000" b="0" dirty="0"/>
              <a:t>Integrate real-time weather and market-price data to move from historical/observational analysis toward predictive planning tools.</a:t>
            </a:r>
            <a:br>
              <a:rPr lang="en-US" altLang="en-GB" sz="2000" b="0" dirty="0"/>
            </a:br>
            <a:r>
              <a:rPr lang="en-US" altLang="en-GB" sz="2000" b="0" dirty="0"/>
              <a:t>Build a dashboard for farmers and policymakers to interactively explore seasonal recommendations by crop, region, and irrigation method.</a:t>
            </a: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729256" y="1440320"/>
            <a:ext cx="7232875" cy="645160"/>
          </a:xfrm>
          <a:prstGeom prst="rect">
            <a:avLst/>
          </a:prstGeom>
          <a:noFill/>
        </p:spPr>
        <p:txBody>
          <a:bodyPr wrap="square">
            <a:spAutoFit/>
          </a:bodyPr>
          <a:lstStyle/>
          <a:p>
            <a:r>
              <a:rPr lang="en-US" altLang="en-GB" dirty="0">
                <a:hlinkClick r:id="rId3" action="ppaction://hlinksldjump"/>
              </a:rPr>
              <a:t>https://github.com/tanvi-23-magdum/Seasonal-Agriculture-Performance-Analysis.git</a:t>
            </a:r>
            <a:endParaRPr lang="en-US" alt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br>
              <a:rPr lang="en-IN" sz="3200" dirty="0"/>
            </a:br>
            <a:r>
              <a:rPr lang="en-IN" sz="3200" dirty="0"/>
              <a:t/>
            </a:r>
            <a:br>
              <a:rPr lang="en-IN" sz="3200" dirty="0"/>
            </a:br>
            <a:endParaRPr lang="en-IN" sz="32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p:cNvPicPr>
            <a:picLocks noChangeAspect="1"/>
          </p:cNvPicPr>
          <p:nvPr/>
        </p:nvPicPr>
        <p:blipFill>
          <a:blip r:embed="rId3"/>
          <a:stretch>
            <a:fillRect/>
          </a:stretch>
        </p:blipFill>
        <p:spPr>
          <a:xfrm>
            <a:off x="1770380" y="1370965"/>
            <a:ext cx="7256780" cy="51777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12</TotalTime>
  <Words>375</Words>
  <Application>Microsoft Office PowerPoint</Application>
  <PresentationFormat>Widescreen</PresentationFormat>
  <Paragraphs>40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This project analyzes seasonal agricultural performance using a dataset covering farming practices, environmental conditions, crop production, resource usage, and economic outcomes across different seasons and regions. The goal is to move beyond raw data and uncover meaningful seasonal patterns, trends, and relationships that explain how agricultural performance shifts from one season to another.  The analysis involves cleaning and preparing the dataset, exploring seasonal variations through statistical and visualization techniques, comparing performance across seasons and regions, and identifying significant differences or unusual patterns. The complete workflow — from data exploration to final insights — is documented in a Jupyter Notebook, concluding with evidence-based recommendations to support better seasonal agricultural planning. </vt:lpstr>
      <vt:lpstr>WHO ARE THE END USERS?</vt:lpstr>
      <vt:lpstr>Technology Used</vt:lpstr>
      <vt:lpstr>RESULTS     </vt:lpstr>
      <vt:lpstr>RESULTS </vt:lpstr>
      <vt:lpstr>RESULTS </vt:lpstr>
      <vt:lpstr>RESULTS </vt:lpstr>
      <vt:lpstr>RESULTS </vt:lpstr>
      <vt:lpstr>Future scope  Incorporate multi-year data to verify whether the Kharif yield advantage and irrigation-method effects hold consistently across years, rather than in a single dataset snapshot. Conduct a deeper cost-and-pricing analysis for currently loss-making crops (Wheat, Rice, Maize, Pulses) to identify specific cost drivers behind negative profit margins. Study non-linear relationships between soil pH, seed quality, and yield, since simple correlation showed no strong linear link — threshold or interaction effects may still exist. Extend the analysis to district-level granularity to uncover more localized patterns currently masked by state-level aggregation. Integrate real-time weather and market-price data to move from historical/observational analysis toward predictive planning tools. Build a dashboard for farmers and policymakers to interactively explore seasonal recommendations by crop, region, and irrigation method.</vt:lpstr>
      <vt:lpstr>GitHub Link</vt:lpstr>
      <vt:lpstr>VOIS Course completion certificate -  Course name- Data Visualization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HP</cp:lastModifiedBy>
  <cp:revision>102</cp:revision>
  <dcterms:created xsi:type="dcterms:W3CDTF">2021-07-11T13:13:00Z</dcterms:created>
  <dcterms:modified xsi:type="dcterms:W3CDTF">2026-09-08T16:40:17Z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03764D088AA44824B1E80781D45E865C_13</vt:lpwstr>
  </property>
  <property fmtid="{D5CDD505-2E9C-101B-9397-08002B2CF9AE}" pid="4" name="KSOProductBuildVer">
    <vt:lpwstr>2057-12.2.0.23206</vt:lpwstr>
  </property>
</Properties>
</file>